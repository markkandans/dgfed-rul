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Welcome; hook: 6G is, at its core, a signal processing problem. Five live MATLAB experiments are woven through the talk. Slides and code available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 — Opening &amp; Motivation. Pause, re-orient the audience, then move into the first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timeline left to right; generations are remembered by their PHY (3G=CDMA, 4G=OFDM+MIMO). The 6G research window is open now: ITU framework 2023, 3GPP study underway, spec by ~2029.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M.2160 is the official 'what is 6G' document. Three scenarios are upgrades of the 5G triangle; three are new. Two of the new ones (ISAC, AI) are Sections 6 and 7 — both signal processing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three rows: 10× peak rate needs new spectrum (Sec 2); sensing appears as a KPI class for the first time (Sec 6); energy moves from marketing to KPI (Sec 10). Don't quote single-number 6G KPIs.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thesis slide. Every box on this roadmap is a DSP problem in a systems costume. The D1–D5 dots: five live MATLAB experiments, one after each core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 — New Spectrum Frontiers. Pause, re-orient the audience, then move into the first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on the log axis. 6G is NOT just THz — first commercial 6G capacity most likely comes from FR3. Keep sub-THz honest: research frontier, short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Operators love FR3: reuse the macro grid. Element count scales with wavelength, so the same panel holds an order of magnitude more elements. Foreshadows 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mmWave is not a failure, a recalibration. The two lessons are design constraints for everything that follows; sub-THz inherits both, amplified. A hand on the phone can erase 20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equation to remember: spreading grows with f² at fixed aperture, and the exponential absorption term is frequency-selective. W/D/G windows are where sub-THz will live. Sparsity is good news for compressed sensing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'Dirty RF' mindset: at 140 GHz the waveform must be designed FOR the hardware. Two knobs: PAPR (PA back-off, coverage) and phase-noise robustness (subcarrier spacing / single-carrier). Bridge to waveforms.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column-wise: the further right, the more requirements shift toward PAPR and phase noise, where OFDM is weakest. Transition to 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 — Waveforms Beyond OFDM. Pause, re-orient the audience, then move into the first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Refresher framed as 'what did we sign up for?' The CP-makes-it-circular trick is the whole magic; it costs 7–25% overhead. The one-tap equalizer only exists if the channel sits still for a symbol.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ICI grows with the square of normalized Doppler; the pink marker is the 500 km/h working point — an SINR ceiling near 17 dB no matter the power. That ceiling becomes the BER floor in Demo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CCDF plot is simulated (QPSK, 1200 tones). ~3 dB less back-off translates almost 1:1 into transmit power and link range at THz. The single-carrier vs multicarrier war is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 slide — compress to 20 s if behind (say only the meta-lesson). OTFS/AFDM must enable something OFDM fundamentally cannot: the high-Doppler regime, not just a prettier PSD.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Domain-change story with our own simulation: left, TF response (fading everywhere); right, the SAME channel in DD (a few still taps). TF is the weather; DD is the map of what causes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chain: ISFFT spreads every DD symbol over the whole TF frame; Heisenberg transform is the OFDM modulator in disguise; RX undoes both. No exotic hardware, an extra 2D FFT pair. Pilots: a single DD impulse with a guard box sounds the whole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OFDM's one-tap story upgraded to 2D: a small set of shifts of the whole grid. Detection is where OTFS pays its bill. Keep the standards status honest; it pays off in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AFDM gets OTFS-like diversity with lower latency because it works symbol-by-symbol. The chirp parameter is matched to max Doppler — channel-aware basis design. Keep-sentence: same benefit, smaller transceiver reorganization.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OFDM keeps the low-mobility mainstream; DD-domain waveforms own high mobility and pair with sensing. THEN SWITCH TO MATLAB. Recall the ICI ceiling, predict the floor, let the plot confirm. Expected: OFDM floors ~3e-2, OTFS falls past 1e-4. Fail → backup A1. Done by 0:26:30.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 — Ultra-Massive MIMO &amp; Beamforming. Pause, re-orient the audience, then move into the first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Re-entry after Demo 1: from time-frequency games to space. Scaling is driven by aperture reuse. Every gain has a hardware price; the DSP refuses to pay full retail.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learned d_R once and forgot it because it used to be centimeters. Recompute live: half-meter array, 30 GHz, 50 m — the cell IS the near field. Beam focusing separates two users on the same bearing at different ranges: a new spatial DoF.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the fully digital ideal (an ADC/DAC pair per element, unaffordable at 1024). Right: the hybrid compromise — thin digital layer + cheap analog phases. The interesting constraint: RF entries are unit-modulus. Subarray variant trades gain for phase-shifter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Curves are our own simulation (Demo 2 code): 64×16, 6 paths, 4 streams — 4-RF-chain OMP hybrid within a fraction of a bit of fully digital. The channel only has ~6 directions worth talking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Beam management is where array theory meets protocol reality: every training symbol is a symbol not carrying data (mmWave Lesson 2). The 6G twist: near-field codebooks sample angle AND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Pitch: instead of a few big towers owning users, many small APs serve everyone. The 90-percentile user wins. Research lives in the 'catches': scalable combining and phase sync over fronthaul.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S9: physics gave sparsity, CS cashes it in. 64 paths of unknowns in a 1024-vector need a few hundred, not a few thousand, measurements. Off-grid is a good student-project generator.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Two-act story: 2010 the asymptotic ceiling (most-cited limit); 2018 the ceiling dissolves under MMSE with unequal spatial correlations. 'Fundamental limits' sometimes encode assumptions; better DSP removes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pass, then SWITCH TO MATLAB. Move the slider, the beam follows; grating-lobe moment beyond 60°. Then the SE bars: 4 chains vs 64. Fail → backup A2. Done by 0:40.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 — Reconfigurable Intelligent Surfaces. Pause, re-orient the audience, then move into the first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 century the channel was fate — estimate and adapt. A RIS makes part of the environment a design variable: hundreds of passive elements, each adding a controllable phase. No PAs, no ADCs on the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Deceptively simple; two hard truths under it: dyadic path loss (why placement matters) and the estimation burden (the panel has no receivers). Both are active research veins.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 in one breath: single-user SNR max separates per element; each element cancels its cascade phase. Plot has the analytic overlays: slopes 2.0 and 1.0. The N² rides on top of the dyadic loss — Demo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honest: add amplifiers and you must compare against a relay. Passive RIS shines where relays are impractical (facades, indoor panels). STAR-RIS: serve both sides of the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Dyadic intuition: (d₁ d₂) is minimized at the ends — put the mirror next to the lamp or the book, not halfway. Estimation with almost no observations is a beautiful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Rapid-fire, then MATLAB. Demo 3 is the shortest: the two scaling lines draw themselves; ask the audience to call the slope difference (2 vs 1). Fail → backup A3. Done by ~0:48:30.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 — Integrated Sensing &amp; Communication. Pause, re-orient the audience, then move into the first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programming the channel to reading it. The cellular network grows a sense of sight: every BS already illuminates the scene. The regulatory angle (spectrum reuse) is what makes operators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Calibration slide: four formulas, no magic. For our demo: 30 MHz → 5 m range resolution; ~9 ms of symbols at 28 GHz → ~5 m/s velocity resolution. Demo 4 will print exactly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Sturm–Wiesbeck trick: the RX knows the transmitted grid X (it is the payload!), so element-wise division leaves pure channel; IFFT over subcarriers gives delay, FFT over symbols gives Doppler. One frame, two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philosophical core: cleanest radar waveforms are deterministic chirps; best comm signals are maximum-entropy noise. Joint design negotiates between them. The reverse (sensing helps comm) may ship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Ranging accuracy improves with RMS bandwidth, so band-edge power helps sensing but not capacity under flat channels — hence the trade-off. 5% of resources already buys cm-class CRB at these SNRs; the curve is steep at first — cheap lunches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Monostatic is clean (Demo 4 assumes it) but hides the hardest RF problem: your own TX is 120 dB above the echo. Bistatic swaps that for a sync problem. Network sensing is where cellular can beat radar.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Standards in 30 s, then MATLAB. The frame carries random QPSK — point at the console line confirming data demod, then the map: two blobs at 40 m/+15 m/s and 75 m/-25 m/s, within one bin of truth. Second peak a few dB lower (scalloping). Fail → backup A4. Done by ~0:59:30.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 — AI-Native Physical Layer. Pause, re-orient the audience, then move into the first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deficit taxonomy (Shlezinger/Eldar) is the best sorting hat: it predicts where learning helps. Channel coding: no deficit, learning adds little. PA distortion: model deficit, learning shines.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Exactly Demo 5's setting — hold the thought. The image analogy is not decoration: the TF channel grid has local correlation like natural images, so vision architectures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paper that launched the field: the whole link as one differentiable function. Realism check: block-based systems won't vanish — certification, interoperability, debugging favor structure. Hybrids win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pragmatic middle ground vendors prototype: keep the OFDM frame, swap the inner receiver. Good neural receivers can skip explicit channel estimation — pilots become input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Best of both worlds: your favorite iterative algorithm, after weight training — same skeleton, data-tuned parameters, priors survive. For faculty: unfolding is a paper machine. This is the cheat-sheet's centerfold.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 slide — can merge into the next. Example: transmitting a face for a video call needs the expression, not the pixels. Cliff-effect contrast: digital dies at threshold; learned JSCC degrades like analog TV.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referee-hat slide. A well-curated public dataset + benchmark for one PHY task can out-impact another architecture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Standards in three bullets, then the last MATLAB switch. LS is the statistics-free baseline; MMSE knows the true covariance (unfair); the small NN learns from data and lands within a fraction of a dB of MMSE. First to skip if late → backup A5. Done by ~1:10.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 — Multiple Access &amp; Spectrum Sharing. Pause, re-orient the audience, then move into the first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stretch of theory — keep energy up. The philosophy: OMA avoids interference, NOMA decodes it fully at one side, RSMA decodes exactly the part worth decoding.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Two-user intuition: the far user treats the near user as noise; the near user decodes the strong far-user signal first and subtracts it. Everything good about NOMA lives in that asymmetry — and everything fragile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Killer property: robustness to imperfect CSIT — the common stream soaks up interference you failed to precode away, and RSMA is DoF-optimal under imperfect CSIT where SDMA collapses. That safety net is why it keeps gaining momentum.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S27: different matrix, identical math. Unsourced RA: nobody says who they are; the decoder outputs WHAT was said. Elegant, and increasingly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30-second summary + the quotable line. Transition: so far everything sat on towers; 6G coverage does not stop at the horizon.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 — Coverage from the Sky &amp; New Media. Pause, re-orient the audience, then move into the first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Coverage becomes 3D: three altitude layers with different delay/Doppler/link-budget personalities. 5G retrofitted NTN in Rel-17; 6G designs for it from day one. Phones already talk to satellites.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S-curve is computed from real orbital geometry (600 km). Half the swing happens in the two minutes around zenith — the tracking stress test. Unlike a car, a satellite tells you its velocity in advance; open-loop pre-compensation removes ~95%.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 slide — one breath per bullet, or skip. Transparent vs regenerative in one line: bent pipe versus a base station in orbit.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Optical is a complement, not a competitor: where RF is denied or congested, photons commute. IM/DD kills negative amplitudes, so OFDM needs DC bias or asymmetric clipping — same toolbox, new constraint.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Deliberately brief — acknowledge the buzzword, place it correctly, move on. In Q&amp;A: the DSP-adjacent part is CV-QKD receivers (coherent detection, error reconciliation).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 — Energy, Standardization &amp; Roadmap. Pause, re-orient the audience, then move into the first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the loop closed: the PAPR discussion IS an energy topic — back-off is wasted watts. The ADC/DAC share grows with bandwidth (illustrative bars): the converter wall is why low-resolution and hybrid keep winning.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advice: watch study-item technical reports (TR 38.8xx/9xx) — they tell you what industry will ask of academia two years ahead. WRC-27 settles new spectrum; influence windows are open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De-mystify the acronym soup: ITU defines what counts as 6G and evaluates candidates; 3GPP writes the technology submitted. Aligning grant objectives with the IMT-2030 capability list is free reviewer goodwill.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problems to resources: the first group needs MATLAB and stubbornness; the second needs infrastructure and consortia. The closing line is career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roadmap as slide 5, now earned. Name the four themes slowly — they are the intellectual through-line; every section used at least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 — Takeaways &amp; Q&amp;A. Pause, re-orient the audience, then move into the first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demo compressed to its aphorism — read all five with rhythm. This is the recap that makes the demos stick. All code goes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LANDING SLIDE — if the schedule collapsed, jump straight here. Deliver the four lines slowly. The three-formulas bullet earns the photo of the talk; pause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Aimed at the research scholars: each line is a defensible thesis statement with its entry toolbox. Offer to discuss any in Q&amp;A or by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read — point: fifteen well-chosen surveys and landmark papers; the handout has the same list. Every item is genuine and widely-cited; volume/number details were compiled from memory — spot-check before printing.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warmly; invite collaboration explicitly — faculty for joint proposals, scholars for co-supervision. Keep MATLAB open: the best Q&amp;A reuses a demo with a parameter changed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if Demo 1 fails live. OFDM floors near 3e-2 from ICI; OTFS falls past 1e-4 by 20 dB. Right: the delay-Doppler channel the frame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if Demo 2 fails live. Left: 64-element ULA patterns, 18 dB peak gain. Right: OMP hybrid with 4 RF chains tracks fully digital.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if Demo 3 fails live. Log-log slopes: optimized 2.0 (the N² law), random 1.0. Analytic overlays sit on the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if Demo 4 fails live. Two targets recovered within one bin each (40 m/+15 m/s and 75 m/-25 m/s) from a QPSK-carrying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if Demo 5 fails live. LS tracks σ²; ideal MMSE gains ~9–10 dB using true statistics; the learned estimator matches MMSE within a fraction of a dB from data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8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332720" cy="201168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Signal Processing for Beyond-5G and 6G Communications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611880"/>
            <a:ext cx="5486400" cy="36576"/>
          </a:xfrm>
          <a:prstGeom prst="rect">
            <a:avLst/>
          </a:prstGeom>
          <a:solidFill>
            <a:srgbClr val="6FB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900" b="0" i="0">
                <a:solidFill>
                  <a:srgbClr val="6FB0B1"/>
                </a:solidFill>
                <a:latin typeface="Arial"/>
              </a:rPr>
              <a:t>Waveforms  •  ultra-massive MIMO  •  RIS  •  ISAC  •  AI-native 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Dr. Markkandan S  ·  Associate Professor</a:t>
            </a:r>
          </a:p>
          <a:p>
            <a:pPr algn="l"/>
            <a:r>
              <a:rPr sz="1500" b="0" i="0">
                <a:solidFill>
                  <a:srgbClr val="C3C2B7"/>
                </a:solidFill>
                <a:latin typeface="Arial"/>
              </a:rPr>
              <a:t>School of Electronics Engineering, Vellore Institute of Technology, Chennai  ·  markkandan.s@vit.ac.in</a:t>
            </a:r>
          </a:p>
          <a:p>
            <a:pPr algn="l"/>
            <a:r>
              <a:rPr sz="1300" b="0" i="1">
                <a:solidFill>
                  <a:srgbClr val="C3C2B7"/>
                </a:solidFill>
                <a:latin typeface="Arial"/>
              </a:rPr>
              <a:t>Invited talk  •  90 minutes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64592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6600" b="1" i="0">
                <a:solidFill>
                  <a:srgbClr val="6FB0B1"/>
                </a:solidFill>
                <a:latin typeface="Arial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4600" y="2468880"/>
            <a:ext cx="41148" cy="1463040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88920" y="2286000"/>
            <a:ext cx="841248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Opening &amp; 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Six generations in forty years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3 / 86</a:t>
            </a:r>
          </a:p>
        </p:txBody>
      </p:sp>
      <p:pic>
        <p:nvPicPr>
          <p:cNvPr id="6" name="Picture 5" descr="fig_evol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81546"/>
            <a:ext cx="10180015" cy="42949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69279"/>
            <a:ext cx="10545775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Each decade: a new generation, a 10–100× peak-rate jump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The differentiator each time was the physical-layer signal processing choice: FDMA → TDMA → CDMA → OFDM/MIMO → mMIMO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The IMT-2030 vision (ITU-R M.2160, Nov. 2023)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4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Extended from 5G: immersive comm.; hyper-reliable low-latency; massive communication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Genuinely new for 6G: Integrated Sensing &amp; Communication; AI and communication; ubiquitous connectivity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Design values: sustainability, security &amp; resilience, connecting the unconnected, interoperability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KPI targets: IMT-2020 vs IMT-2030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5 / 86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91153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5G (IMT-2020)</a:t>
                      </a:r>
                    </a:p>
                  </a:txBody>
                  <a:tcPr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6G (IMT-2030, research)</a:t>
                      </a:r>
                    </a:p>
                  </a:txBody>
                  <a:tcPr>
                    <a:solidFill>
                      <a:srgbClr val="0F717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0B0B"/>
                          </a:solidFill>
                          <a:latin typeface="Arial"/>
                        </a:rPr>
                        <a:t>Peak data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20 Gb/s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200 Gb/s – 1 Tb/s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0B0B"/>
                          </a:solidFill>
                          <a:latin typeface="Arial"/>
                        </a:rPr>
                        <a:t>User-plane latency</a:t>
                      </a:r>
                    </a:p>
                  </a:txBody>
                  <a:tcPr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1 ms</a:t>
                      </a:r>
                    </a:p>
                  </a:txBody>
                  <a:tcPr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0.1 – 1 ms</a:t>
                      </a:r>
                    </a:p>
                  </a:txBody>
                  <a:tcPr>
                    <a:solidFill>
                      <a:srgbClr val="EFF3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0B0B"/>
                          </a:solidFill>
                          <a:latin typeface="Arial"/>
                        </a:rPr>
                        <a:t>Connection density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10⁶ /km²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10⁶ – 10⁸ /km²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0B0B"/>
                          </a:solidFill>
                          <a:latin typeface="Arial"/>
                        </a:rPr>
                        <a:t>Positioning</a:t>
                      </a:r>
                    </a:p>
                  </a:txBody>
                  <a:tcPr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m-level</a:t>
                      </a:r>
                    </a:p>
                  </a:txBody>
                  <a:tcPr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cm-level (+ velocity)</a:t>
                      </a:r>
                    </a:p>
                  </a:txBody>
                  <a:tcPr>
                    <a:solidFill>
                      <a:srgbClr val="EFF3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0B0B"/>
                          </a:solidFill>
                          <a:latin typeface="Arial"/>
                        </a:rPr>
                        <a:t>Sensing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native KPI 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0B0B"/>
                          </a:solidFill>
                          <a:latin typeface="Arial"/>
                        </a:rPr>
                        <a:t>Energy</a:t>
                      </a:r>
                    </a:p>
                  </a:txBody>
                  <a:tcPr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qualitative</a:t>
                      </a:r>
                    </a:p>
                  </a:txBody>
                  <a:tcPr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first-class design value</a:t>
                      </a:r>
                    </a:p>
                  </a:txBody>
                  <a:tcPr>
                    <a:solidFill>
                      <a:srgbClr val="EFF3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349240"/>
            <a:ext cx="10911535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IMT-2030 gives ranges, not single numbers — targets are scenario-dependent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Why signal processing is the bottleneck and the enabler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6 / 86</a:t>
            </a:r>
          </a:p>
        </p:txBody>
      </p:sp>
      <p:pic>
        <p:nvPicPr>
          <p:cNvPr id="6" name="Picture 5" descr="fig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83295"/>
            <a:ext cx="10180015" cy="22914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69279"/>
            <a:ext cx="10545775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Near Shannon at sub-6 GHz → gains must come from new dimensions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New dimensions: bandwidth (THz), aperture (arrays), environment (RIS), function (sensing), semantics (AI)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Hardware gets worse as frequency rises — DSP must compensate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64592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6600" b="1" i="0">
                <a:solidFill>
                  <a:srgbClr val="6FB0B1"/>
                </a:solidFill>
                <a:latin typeface="Arial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4600" y="2468880"/>
            <a:ext cx="41148" cy="1463040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88920" y="2286000"/>
            <a:ext cx="841248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New Spectrum Frontiers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The 6G spectrum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8 / 86</a:t>
            </a:r>
          </a:p>
        </p:txBody>
      </p:sp>
      <p:pic>
        <p:nvPicPr>
          <p:cNvPr id="6" name="Picture 5" descr="fig_spectrum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47029"/>
            <a:ext cx="10180015" cy="41639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69279"/>
            <a:ext cx="10545775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Sub-6: coverage workhorse, congested • FR2 mmWave: deployed, niche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FR3 (7–24 GHz): the pragmatic 6G capacity band; WRC-23 identified new IMT bands (region-dependent)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Sub-THz 100–300 GHz: the research frontier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FR3 / upper mid-band: the pragmatic 6G band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9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7–15 GHz: 2–4× more bandwidth than C-band with manageable path loss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Same aperture → 4–9× more elements than at 3.5 GHz: massive MIMO scales naturally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Coexistence with satellite/radar incumbents → sharing and sensing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DSP price: beam squint, calibration, channel-estimation burden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mmWave: what a decade taught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10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FR2 works — but blockage (hand/body 10–25 dB), dense small cells, beam-management overhead limited rollout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Killer app became fixed wireless access, not mobility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Lesson 1: link-budget math wins arguments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Lesson 2: beam training overhead is a rate tax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Sub-THz channels: 100–300 GHz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11 / 86</a:t>
            </a:r>
          </a:p>
        </p:txBody>
      </p:sp>
      <p:pic>
        <p:nvPicPr>
          <p:cNvPr id="6" name="Picture 5" descr="eq_thz_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055" y="1207008"/>
            <a:ext cx="4915584" cy="123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743200"/>
            <a:ext cx="5943600" cy="370331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O₂/H₂O resonances at 60, 119, 183, 325 GHz carve transmission windows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Channel: sparse, specular, LoS-dominated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Consequences: short links, pencil beams mandatory</a:t>
            </a:r>
          </a:p>
        </p:txBody>
      </p:sp>
      <p:pic>
        <p:nvPicPr>
          <p:cNvPr id="8" name="Picture 7" descr="fig_thz_absor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069430"/>
            <a:ext cx="4937760" cy="30051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Hardware impairments dominate at high bands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12 / 86</a:t>
            </a:r>
          </a:p>
        </p:txBody>
      </p:sp>
      <p:pic>
        <p:nvPicPr>
          <p:cNvPr id="6" name="Picture 5" descr="eq_r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92" y="1207008"/>
            <a:ext cx="3657111" cy="1234440"/>
          </a:xfrm>
          <a:prstGeom prst="rect">
            <a:avLst/>
          </a:prstGeom>
        </p:spPr>
      </p:pic>
      <p:pic>
        <p:nvPicPr>
          <p:cNvPr id="7" name="Picture 6" descr="eq_wie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47" y="2606040"/>
            <a:ext cx="10058400" cy="6368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3544677"/>
            <a:ext cx="5943600" cy="290184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PA efficiency falls with f; back-off → PAPR is a first-class metric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Phase noise power ∝ f_c²; low-resolution ADCs to save power</a:t>
            </a:r>
          </a:p>
        </p:txBody>
      </p:sp>
      <p:pic>
        <p:nvPicPr>
          <p:cNvPr id="9" name="Picture 8" descr="fig_pa_rap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0764" y="3498957"/>
            <a:ext cx="4517911" cy="29475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Implications for waveform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13 / 86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91153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Requirement</a:t>
                      </a:r>
                    </a:p>
                  </a:txBody>
                  <a:tcPr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sub-6</a:t>
                      </a:r>
                    </a:p>
                  </a:txBody>
                  <a:tcPr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FR3</a:t>
                      </a:r>
                    </a:p>
                  </a:txBody>
                  <a:tcPr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mmWave</a:t>
                      </a:r>
                    </a:p>
                  </a:txBody>
                  <a:tcPr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sub-THz</a:t>
                      </a:r>
                    </a:p>
                  </a:txBody>
                  <a:tcPr>
                    <a:solidFill>
                      <a:srgbClr val="0F717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0B0B"/>
                          </a:solidFill>
                          <a:latin typeface="Arial"/>
                        </a:rPr>
                        <a:t>Low PAPR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nice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nice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want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F7173"/>
                          </a:solidFill>
                          <a:latin typeface="Arial"/>
                        </a:rPr>
                        <a:t>NEED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0B0B"/>
                          </a:solidFill>
                          <a:latin typeface="Arial"/>
                        </a:rPr>
                        <a:t>Phase-noise robustness</a:t>
                      </a:r>
                    </a:p>
                  </a:txBody>
                  <a:tcPr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want</a:t>
                      </a:r>
                    </a:p>
                  </a:txBody>
                  <a:tcPr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F7173"/>
                          </a:solidFill>
                          <a:latin typeface="Arial"/>
                        </a:rPr>
                        <a:t>NEED</a:t>
                      </a:r>
                    </a:p>
                  </a:txBody>
                  <a:tcPr>
                    <a:solidFill>
                      <a:srgbClr val="EFF3F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0B0B"/>
                          </a:solidFill>
                          <a:latin typeface="Arial"/>
                        </a:rPr>
                        <a:t>Doppler robustness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HST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HST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want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want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0B0B"/>
                          </a:solidFill>
                          <a:latin typeface="Arial"/>
                        </a:rPr>
                        <a:t>Spectral confinement</a:t>
                      </a:r>
                    </a:p>
                  </a:txBody>
                  <a:tcPr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want</a:t>
                      </a:r>
                    </a:p>
                  </a:txBody>
                  <a:tcPr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want</a:t>
                      </a:r>
                    </a:p>
                  </a:txBody>
                  <a:tcPr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nice</a:t>
                      </a:r>
                    </a:p>
                  </a:txBody>
                  <a:tcPr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nice</a:t>
                      </a:r>
                    </a:p>
                  </a:txBody>
                  <a:tcPr>
                    <a:solidFill>
                      <a:srgbClr val="EFF3F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0B0B"/>
                          </a:solidFill>
                          <a:latin typeface="Arial"/>
                        </a:rPr>
                        <a:t>MIMO compatibility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F7173"/>
                          </a:solidFill>
                          <a:latin typeface="Arial"/>
                        </a:rPr>
                        <a:t>NEED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F7173"/>
                          </a:solidFill>
                          <a:latin typeface="Arial"/>
                        </a:rPr>
                        <a:t>NEED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F7173"/>
                          </a:solidFill>
                          <a:latin typeface="Arial"/>
                        </a:rPr>
                        <a:t>NEED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B0B"/>
                          </a:solidFill>
                          <a:latin typeface="Arial"/>
                        </a:rPr>
                        <a:t>want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349240"/>
            <a:ext cx="10911535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No single waveform wins every column → expect scenario-dependent waveform choices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CP-OFDM's weak spots are exactly the columns that harden at high bands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64592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6600" b="1" i="0">
                <a:solidFill>
                  <a:srgbClr val="6FB0B1"/>
                </a:solidFill>
                <a:latin typeface="Arial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4600" y="2468880"/>
            <a:ext cx="41148" cy="1463040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88920" y="2286000"/>
            <a:ext cx="841248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Waveforms Beyond OFDM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CP-OFDM recap: why it won 4G and 5G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15 / 86</a:t>
            </a:r>
          </a:p>
        </p:txBody>
      </p:sp>
      <p:pic>
        <p:nvPicPr>
          <p:cNvPr id="6" name="Picture 5" descr="eq_of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34440"/>
            <a:ext cx="10058400" cy="929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420071"/>
            <a:ext cx="10545775" cy="40264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One FFT turns a frequency-selective channel into N flat channels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MIMO-friendly, flexible numerology, gigantic ecosystem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Hidden assumption: channel constant over one symbol (quasi-static)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That assumption is what high mobility and high carriers break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Where OFDM breaks: high Doppler, high bands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16 / 86</a:t>
            </a:r>
          </a:p>
        </p:txBody>
      </p:sp>
      <p:pic>
        <p:nvPicPr>
          <p:cNvPr id="6" name="Picture 5" descr="eq_i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186" y="1207008"/>
            <a:ext cx="4249322" cy="123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743200"/>
            <a:ext cx="5943600" cy="370331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Doppler spread destroys orthogonality → ICI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500 km/h at 28 GHz: f_d ≈ 13 kHz (ε ≈ 0.11)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PAPR ~10–12 dB → PA back-off, worst fit for THz PAs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Phase noise adds CPE + ICI on top</a:t>
            </a:r>
          </a:p>
        </p:txBody>
      </p:sp>
      <p:pic>
        <p:nvPicPr>
          <p:cNvPr id="8" name="Picture 7" descr="fig_ici_dopp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930601"/>
            <a:ext cx="4937760" cy="328279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DFT-s-OFDM and the single-carrier comeback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17 / 86</a:t>
            </a:r>
          </a:p>
        </p:txBody>
      </p:sp>
      <p:pic>
        <p:nvPicPr>
          <p:cNvPr id="6" name="Picture 5" descr="eq_df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07008"/>
            <a:ext cx="10058400" cy="9058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414582"/>
            <a:ext cx="5943600" cy="4031937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Quasi single-carrier envelope: ~3 dB PAPR advantage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Already the 5G uplink workhorse — proven at scale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Sub-THz proposals: SC-FDE; equalizer complexity moves to RX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Leading candidate for 6G high bands</a:t>
            </a:r>
          </a:p>
        </p:txBody>
      </p:sp>
      <p:pic>
        <p:nvPicPr>
          <p:cNvPr id="8" name="Picture 7" descr="fig_papr_cc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690714"/>
            <a:ext cx="4937760" cy="343395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Filtered multicarrier: lessons of the 5G bake-off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18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Candidates c.2016: FBMC, UFMC, GFDM, f-OFDM — better spectral confinement, relaxed synchronicity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Why they lost: MIMO integration pain, complexity, marginal gains after windowing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What survived: spectral shaping as a TX implementation choice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Meta-lesson: ecosystem inertia is a design constraint — radical waveforms need radical gains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OTFS I: thinking in delay–Doppler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19 / 86</a:t>
            </a:r>
          </a:p>
        </p:txBody>
      </p:sp>
      <p:pic>
        <p:nvPicPr>
          <p:cNvPr id="6" name="Picture 5" descr="eq_otfs_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39" y="1207008"/>
            <a:ext cx="9957816" cy="123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743200"/>
            <a:ext cx="5943600" cy="370331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In delay–Doppler the channel is sparse and quasi-static: a few (τ,ν) taps = physical reflectors with range &amp; velocity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Each DD symbol rides the entire TF channel → full-diversity potential</a:t>
            </a:r>
          </a:p>
        </p:txBody>
      </p:sp>
      <p:pic>
        <p:nvPicPr>
          <p:cNvPr id="8" name="Picture 7" descr="fig_tf_vs_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366886"/>
            <a:ext cx="4937760" cy="241022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OTFS II: transceiver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20 / 86</a:t>
            </a:r>
          </a:p>
        </p:txBody>
      </p:sp>
      <p:pic>
        <p:nvPicPr>
          <p:cNvPr id="6" name="Picture 5" descr="eq_isf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34440"/>
            <a:ext cx="10058400" cy="1210491"/>
          </a:xfrm>
          <a:prstGeom prst="rect">
            <a:avLst/>
          </a:prstGeom>
        </p:spPr>
      </p:pic>
      <p:pic>
        <p:nvPicPr>
          <p:cNvPr id="7" name="Picture 6" descr="otfs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55243"/>
            <a:ext cx="10911535" cy="14375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321365"/>
            <a:ext cx="10545775" cy="212515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OTFS = 2D pre/post-processing around an OFDM modem → attractive migration path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OTFS III: input–output relation and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21 / 86</a:t>
            </a:r>
          </a:p>
        </p:txBody>
      </p:sp>
      <p:pic>
        <p:nvPicPr>
          <p:cNvPr id="6" name="Picture 5" descr="eq_otfs_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34440"/>
            <a:ext cx="10058400" cy="9054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395907"/>
            <a:ext cx="10545775" cy="40506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A 2D twisted circular convolution: each tap shifts data in delay and Doppler and adds a phase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Sparsity → message-passing / low-complexity MMSE detectors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Costs: frame-level latency, detection complexity, fractional-Doppler leakage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Honest status: rich literature, strong results — not yet in 3GPP normative work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AFDM: the chirp-based challenger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22 / 86</a:t>
            </a:r>
          </a:p>
        </p:txBody>
      </p:sp>
      <p:pic>
        <p:nvPicPr>
          <p:cNvPr id="6" name="Picture 5" descr="eq_af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34440"/>
            <a:ext cx="10058400" cy="6133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03789"/>
            <a:ext cx="10545775" cy="434273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Multiplex on chirps; tune c₁ to the Doppler span → all paths separate in the DAFT domain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Full diversity with 1D single-symbol processing (vs OTFS frame-level)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FFT-based implementation; rising fast since 2023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Open: MIMO integration, pilot design, robustness at scale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Waveform scorecard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23 / 86</a:t>
            </a:r>
          </a:p>
        </p:txBody>
      </p:sp>
      <p:pic>
        <p:nvPicPr>
          <p:cNvPr id="6" name="Picture 5" descr="fig_waveform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152" y="1234440"/>
            <a:ext cx="8999389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797296"/>
            <a:ext cx="10911535" cy="512064"/>
          </a:xfrm>
          <a:prstGeom prst="round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797296"/>
            <a:ext cx="10454335" cy="512064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▶  Live Demo 1 (3.5 min): OFDM vs OTFS at 500 km/h — watch the BER floor appear.  [matlab/demo1_ofdm_vs_otfs]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64592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6600" b="1" i="0">
                <a:solidFill>
                  <a:srgbClr val="6FB0B1"/>
                </a:solidFill>
                <a:latin typeface="Arial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4600" y="2468880"/>
            <a:ext cx="41148" cy="1463040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88920" y="2286000"/>
            <a:ext cx="841248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Ultra-Massive MIMO &amp; Beamforming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From massive to ultra-massive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25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5G: 64 TRX at 3.5 GHz → 6G: 512–4096 elements at FR3/mmWave/sub-THz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Same aperture at higher f → more elements, narrower beams, more EIRP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New physics: near-field propagation, spatial non-stationarity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The bill: RF chains, ADCs, calibration, fronthaul — DSP must economize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Near-field vs far-field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26 / 86</a:t>
            </a:r>
          </a:p>
        </p:txBody>
      </p:sp>
      <p:pic>
        <p:nvPicPr>
          <p:cNvPr id="6" name="Picture 5" descr="eq_raylei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503" y="1234440"/>
            <a:ext cx="7858688" cy="123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724912"/>
            <a:ext cx="10545775" cy="3721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D = 0.5 m at 30 GHz: d_R = 50 m — users are inside the near field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Near field → beam focusing (range-selective!), not just steering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Wavefront curvature carries range info — a gift for localization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Hybrid analog–digital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27 / 86</a:t>
            </a:r>
          </a:p>
        </p:txBody>
      </p:sp>
      <p:pic>
        <p:nvPicPr>
          <p:cNvPr id="6" name="Picture 5" descr="eq_hyb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34440"/>
            <a:ext cx="10058400" cy="532715"/>
          </a:xfrm>
          <a:prstGeom prst="rect">
            <a:avLst/>
          </a:prstGeom>
        </p:spPr>
      </p:pic>
      <p:pic>
        <p:nvPicPr>
          <p:cNvPr id="7" name="Picture 6" descr="hybrid_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77467"/>
            <a:ext cx="10911535" cy="22332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439319"/>
            <a:ext cx="10545775" cy="200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Phase-only RF network; wideband arrays add true-time-delay units against beam squint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Designing the hybrid precoder: sparsity to the rescue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28 / 86</a:t>
            </a:r>
          </a:p>
        </p:txBody>
      </p:sp>
      <p:pic>
        <p:nvPicPr>
          <p:cNvPr id="6" name="Picture 5" descr="eq_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07008"/>
            <a:ext cx="10058400" cy="6345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143305"/>
            <a:ext cx="5943600" cy="430321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mmWave channels sparse in angle → precoding ≈ sparse reconstruction → OMP (El Ayach et al. 2014)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N_RF ≈ N_s chains already ≈ near-digital performance</a:t>
            </a:r>
          </a:p>
        </p:txBody>
      </p:sp>
      <p:pic>
        <p:nvPicPr>
          <p:cNvPr id="8" name="Picture 7" descr="fig_hybrid_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603944"/>
            <a:ext cx="4937760" cy="333621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Beam management: finding the needle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29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5G NR baseline: SSB sweep → CSI-RS refinement → tracking &amp; recovery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Overhead grows with codebook size → hierarchical search, ML prediction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Sub-THz pencil beams: mobility and micro-blockage stress the loop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Research: side-information beams (position, vision, radar), near-field codebooks (angle × range)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Cell-free massive MIMO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30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Many distributed low-cost APs, coherent joint processing, no cells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Uniform SNR replaces cell-edge misery; macro-diversity beats blockage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Catches: fronthaul, synchronization, scalable processing (DCC)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6G angle: natural platform for distributed sensing and RIS integration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Channel estimation by compressed sensing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31 / 86</a:t>
            </a:r>
          </a:p>
        </p:txBody>
      </p:sp>
      <p:pic>
        <p:nvPicPr>
          <p:cNvPr id="6" name="Picture 5" descr="eq_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34440"/>
            <a:ext cx="10058400" cy="4511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941596"/>
            <a:ext cx="10545775" cy="4504923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Angular sparsity (L paths) → recovery from O(L log N) pilots via OMP/AMP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Pilot savings make 1024-element arrays trainable at all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Caveats: grid mismatch (off-grid), near-field dictionaries grow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Same math returns in Section 8 for activity detection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Pilot contamination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32 / 86</a:t>
            </a:r>
          </a:p>
        </p:txBody>
      </p:sp>
      <p:pic>
        <p:nvPicPr>
          <p:cNvPr id="6" name="Picture 5" descr="eq_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134" y="1234440"/>
            <a:ext cx="9655426" cy="123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724912"/>
            <a:ext cx="10545775" cy="3721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Pilot reuse → correlated estimates → coherent interference that does NOT average out with more antennas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Modern view (Björnson et al.): with multi-cell MMSE + spatial correlation, capacity grows without bound — a processing artifact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Mitigations: pilot assignment, correlation-aware estimation, cell-free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Array frontier: open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33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4297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Wideband beam squint at 10%+ fractional bandwidth: TTD-augmented hybrids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Near-field CSI: dimensionality, codebooks, tracking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Spatial non-stationarity: subarrays see different channels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The honest metric: energy per beamformed bit, not array gain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797296"/>
            <a:ext cx="10911535" cy="512064"/>
          </a:xfrm>
          <a:prstGeom prst="round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797296"/>
            <a:ext cx="10454335" cy="512064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▶  Live Demo 2 (3.5 min): 64-element array — steer the beam with a slider; digital vs OMP-hybrid SE.  [matlab/demo2_hybrid_beamforming]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64592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6600" b="1" i="0">
                <a:solidFill>
                  <a:srgbClr val="6FB0B1"/>
                </a:solidFill>
                <a:latin typeface="Arial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4600" y="2468880"/>
            <a:ext cx="41148" cy="1463040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88920" y="2286000"/>
            <a:ext cx="841248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Reconfigurable Intelligent Surfaces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RIS: programming the channel itself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35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79"/>
            <a:ext cx="10545775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Passive metasurface, N tunable elements adding a controllable reflection phase; steered by a low-rate control link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Paradigm shift: the channel becomes a design variable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The cascaded channel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36 / 86</a:t>
            </a:r>
          </a:p>
        </p:txBody>
      </p:sp>
      <p:pic>
        <p:nvPicPr>
          <p:cNvPr id="6" name="Picture 5" descr="eq_ris_ca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34440"/>
            <a:ext cx="10058400" cy="5008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991305"/>
            <a:ext cx="10545775" cy="445521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Product path loss ∝ (d₁ d₂)^(−α): the fundamental tax of passivity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Estimation burden: cascaded coefficients scale as N×M; structure helps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Large N at short range → the RIS itself operates in the near field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Phase optimization and the N² law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37 / 86</a:t>
            </a:r>
          </a:p>
        </p:txBody>
      </p:sp>
      <p:pic>
        <p:nvPicPr>
          <p:cNvPr id="6" name="Picture 5" descr="eq_ris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07008"/>
            <a:ext cx="10058400" cy="6879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196699"/>
            <a:ext cx="5943600" cy="42498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Co-phasing: amplitude ∝ N → power ∝ N² (+6 dB per doubling)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Random phases: 2D random walk → power ∝ 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Multi-user/MIMO: non-convex → SDR, manifold, alternating optimization</a:t>
            </a:r>
          </a:p>
        </p:txBody>
      </p:sp>
      <p:pic>
        <p:nvPicPr>
          <p:cNvPr id="8" name="Picture 7" descr="fig_demo3_ris_sca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489809"/>
            <a:ext cx="4937760" cy="361788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Active RIS and other variants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38 / 86</a:t>
            </a:r>
          </a:p>
        </p:txBody>
      </p:sp>
      <p:pic>
        <p:nvPicPr>
          <p:cNvPr id="6" name="Picture 5" descr="eq_ris_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036" y="1234440"/>
            <a:ext cx="6779622" cy="123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724912"/>
            <a:ext cx="10545775" cy="3721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Passive gain often eaten by dyadic loss → active RIS: amplification + an amplified-noise tax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Variants: STAR-RIS (transmit + reflect), beyond-diagonal RIS, holographic surfaces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The uncomfortable benchmark: does it beat a relay/small cell at equal cost/power?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Deployment: where RIS actually helps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39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Sweet spots: mmWave/sub-THz blockage bypass, indoor dead zones, localized capacity boosts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Placement rule: near TX or near RX — mid-path maximizes dyadic loss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Overheads that gate practicality: channel estimation and control link, both scaling with 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Field trials encouraging; standardization pre-normative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RIS: open problems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40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4297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CSI acquisition with no RF chains on the panel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Wideband behavior: one phase per element, many subcarriers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EM-consistent models: mutual coupling, non-ideal reflection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RIS-aided sensing and localization: surfaces as programmable landmarks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797296"/>
            <a:ext cx="10911535" cy="512064"/>
          </a:xfrm>
          <a:prstGeom prst="round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797296"/>
            <a:ext cx="10454335" cy="512064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▶  Live Demo 3 (2.5 min): the N² law — SNR gain from 16 to 1024 elements, random vs optimized phases.  [matlab/demo3_ris_gain]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64592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6600" b="1" i="0">
                <a:solidFill>
                  <a:srgbClr val="6FB0B1"/>
                </a:solidFill>
                <a:latin typeface="Arial"/>
              </a:rP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4600" y="2468880"/>
            <a:ext cx="41148" cy="1463040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88920" y="2286000"/>
            <a:ext cx="841248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Integrated Sensing &amp; Communication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Why ISAC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42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One spectrum, one infrastructure, two functions: comm + radar-style sensing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Drivers: spectrum scarcity; a dense grid is a ready-made sensor network; XR/V2X/drones need perception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IMT-2030 lists ISAC as a defining scenario — not an add-on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Economic pitch: sensing for free on waveforms you already transmit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Radar refresher in one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43 / 86</a:t>
            </a:r>
          </a:p>
        </p:txBody>
      </p:sp>
      <p:pic>
        <p:nvPicPr>
          <p:cNvPr id="6" name="Picture 5" descr="eq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34440"/>
            <a:ext cx="10058400" cy="10012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491676"/>
            <a:ext cx="10545775" cy="3954843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Bandwidth buys range resolution; coherent time buys velocity resolution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Matched filtering + coherent integration = the SNR workhorses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All classic DSP — 6G reuses it wholesale, on comm hardware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OFDM as a radar waveform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44 / 86</a:t>
            </a:r>
          </a:p>
        </p:txBody>
      </p:sp>
      <p:pic>
        <p:nvPicPr>
          <p:cNvPr id="6" name="Picture 5" descr="eq_ofdm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34440"/>
            <a:ext cx="10058400" cy="1043093"/>
          </a:xfrm>
          <a:prstGeom prst="rect">
            <a:avLst/>
          </a:prstGeom>
        </p:spPr>
      </p:pic>
      <p:pic>
        <p:nvPicPr>
          <p:cNvPr id="7" name="Picture 6" descr="isac_r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548" y="2487845"/>
            <a:ext cx="6868597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Joint waveform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45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Design axes: power/subcarrier allocation, dedicated sensing symbols vs data reuse, beampattern shaping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Inherent friction: comm wants randomness (capacity), radar wants determinism (clean ambiguity function)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Recent theory: the 'random-data radar' penalty is quantifiable — often acceptably small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Sensing-assisted comm: radar tracks feed beam prediction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Fundamental limits: CRB vs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46 / 86</a:t>
            </a:r>
          </a:p>
        </p:txBody>
      </p:sp>
      <p:pic>
        <p:nvPicPr>
          <p:cNvPr id="6" name="Picture 5" descr="eq_cr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07008"/>
            <a:ext cx="10058400" cy="9314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440251"/>
            <a:ext cx="5943600" cy="40062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Delay CRB: RMS bandwidth is king — edge subcarriers are gold for ranging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Rate–CRB region: the capacity–distortion picture of ISAC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Waterfilling for rate ≠ for sensing → principled compromises</a:t>
            </a:r>
          </a:p>
        </p:txBody>
      </p:sp>
      <p:pic>
        <p:nvPicPr>
          <p:cNvPr id="8" name="Picture 7" descr="fig_rate_c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654632"/>
            <a:ext cx="4937760" cy="3531787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Monostatic, bistatic, and network sensing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47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Monostatic: full waveform knowledge; but TX–RX self-interference is brutal (full duplex / quasi-CW)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Bistatic (BS→UE, BS→BS): no self-interference; sync and clock offsets bite instead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Network/multistatic: fusion across cells — geometry diversity, coverage; cellular timing helps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ISAC in 3GPP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48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4297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Rel-19: dedicated channel-model study for ISAC (targets with RCS enter the stochastic model); SA1 use cases feed RAN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Rel-20 (6G study): sensing among candidate native features; ETSI ISG ISAC in parallel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Honest status: pre-normative — first commercial 'sensing' likely positioning-class, then micro-Doppler apps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797296"/>
            <a:ext cx="10911535" cy="512064"/>
          </a:xfrm>
          <a:prstGeom prst="round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797296"/>
            <a:ext cx="10454335" cy="512064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▶  Live Demo 4 (3 min): two moving targets on a range–Doppler map — from a frame carrying QPSK data.  [matlab/demo4_isac_range_doppler]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64592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6600" b="1" i="0">
                <a:solidFill>
                  <a:srgbClr val="6FB0B1"/>
                </a:solidFill>
                <a:latin typeface="Arial"/>
              </a:rPr>
              <a:t>7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4600" y="2468880"/>
            <a:ext cx="41148" cy="1463040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88920" y="2286000"/>
            <a:ext cx="841248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AI-Native Physical Layer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What 'AI-native' actually 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50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5G: AI bolted on (SON, scheduling). 6G: AI as a design principle inside the air interface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Model deficit: no faithful math model (hardware nonlinearity) → learn the model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Algorithm deficit: model known, optimal algorithm intractable → learn the algorithm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Integration spectrum: replace a block → co-design blocks → end-to-end learned PHY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Deep learning for channel estimation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51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Treat the pilot-grid estimate as a noisy image → CNN denoising / super-resolution across time–frequency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Learned estimators approach MMSE without knowing channel statistics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Gains largest at low SNR and under model mismatch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Costs: training data, generalization, µs-latency inference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Autoencoder end-to-end 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52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O'Shea &amp; Hoydis 2017: TX–channel–RX as one autoencoder; learn constellation and demapper jointly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Learned constellations rediscover — and under impairments beat — hand-designed ones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Needs a differentiable channel → surrogate models or RL for the real world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Neural receivers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53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Replace equalization + demapping with one trained network over the received grid (channel estimate optional)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Demonstrated at 3GPP-compatible scale (multi-user MIMO neural receivers, Sionna-class toolchains)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Robustness from training over channel distributions; complexity tamed by pruning/quantization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Open: retraining cadence vs channel drift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Model-based deep learning: deep unfolding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54 / 86</a:t>
            </a:r>
          </a:p>
        </p:txBody>
      </p:sp>
      <p:pic>
        <p:nvPicPr>
          <p:cNvPr id="6" name="Picture 5" descr="eq_li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34440"/>
            <a:ext cx="10058400" cy="5216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12109"/>
            <a:ext cx="10545775" cy="443441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Unroll K iterations into a K-layer network; learn the knobs (steps, thresholds, matrices)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Order-of-magnitude fewer iterations at equal accuracy; keeps interpretability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PHY wins: unfolded detection, beamforming, sparse channel estimation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Semantic communications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55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Shift from bit fidelity to task fidelity: transmit what the receiver needs to act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Neural joint source–channel coding: graceful degradation, no cliff effect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Open theory: a semantic information measure; separation theorem; standardizable interfaces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Fair positioning: promising for constrained links (XR, satellite IoT); not a day-one feature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The hard problems: data, generalization,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56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7173"/>
                </a:solidFill>
                <a:latin typeface="Arial"/>
              </a:rPr>
              <a:t>▸  </a:t>
            </a:r>
            <a:r>
              <a:rPr sz="1600">
                <a:solidFill>
                  <a:srgbClr val="0B0B0B"/>
                </a:solidFill>
                <a:latin typeface="Arial"/>
              </a:rPr>
              <a:t>Data: channel measurements are vendor-siloed; sim-to-real is the quiet blocker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7173"/>
                </a:solidFill>
                <a:latin typeface="Arial"/>
              </a:rPr>
              <a:t>▸  </a:t>
            </a:r>
            <a:r>
              <a:rPr sz="1600">
                <a:solidFill>
                  <a:srgbClr val="0B0B0B"/>
                </a:solidFill>
                <a:latin typeface="Arial"/>
              </a:rPr>
              <a:t>Generalization: across cells, hardware, mobility; distribution-shift monitoring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7173"/>
                </a:solidFill>
                <a:latin typeface="Arial"/>
              </a:rPr>
              <a:t>▸  </a:t>
            </a:r>
            <a:r>
              <a:rPr sz="1600">
                <a:solidFill>
                  <a:srgbClr val="0B0B0B"/>
                </a:solidFill>
                <a:latin typeface="Arial"/>
              </a:rPr>
              <a:t>Budget: µs inference, joules per inference, PHY real-time constraints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7173"/>
                </a:solidFill>
                <a:latin typeface="Arial"/>
              </a:rPr>
              <a:t>▸  </a:t>
            </a:r>
            <a:r>
              <a:rPr sz="1600">
                <a:solidFill>
                  <a:srgbClr val="0B0B0B"/>
                </a:solidFill>
                <a:latin typeface="Arial"/>
              </a:rPr>
              <a:t>Trust: testability, certification, explainability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7173"/>
                </a:solidFill>
                <a:latin typeface="Arial"/>
              </a:rPr>
              <a:t>▸  </a:t>
            </a:r>
            <a:r>
              <a:rPr sz="1600">
                <a:solidFill>
                  <a:srgbClr val="0B0B0B"/>
                </a:solidFill>
                <a:latin typeface="Arial"/>
              </a:rPr>
              <a:t>Opening: standardized channel datasets &amp; benchmarks would be a real service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AI/ML in 3GPP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57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4297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Rel-18 study → Rel-19 normative first steps; three use cases: CSI feedback compression, beam prediction, positioning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Two-sided models (UE encoder / network decoder): the interoperability puzzle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6G study (Rel-20): AI-native candidates; the real spec work is life-cycle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797296"/>
            <a:ext cx="10911535" cy="512064"/>
          </a:xfrm>
          <a:prstGeom prst="round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797296"/>
            <a:ext cx="10454335" cy="512064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▶  Live Demo 5 (2.5 min): LS vs MMSE vs a small neural network for OFDM channel estimation.  [matlab/demo5_dl_channel_estimation]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64592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6600" b="1" i="0">
                <a:solidFill>
                  <a:srgbClr val="6FB0B1"/>
                </a:solidFill>
                <a:latin typeface="Arial"/>
              </a:rPr>
              <a:t>8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4600" y="2468880"/>
            <a:ext cx="41148" cy="1463040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88920" y="2286000"/>
            <a:ext cx="841248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Multiple Access &amp; Spectrum Sharing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Beyond orthogonal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59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OMA is capacity-optimal only in corner cases; 6G stress: massive connectivity + heterogeneous QoS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Landscape: power-domain NOMA, code-domain (SCMA), RSMA, grant-free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5G reality: NOMA studied (MUST), not widely deployed — SIC complexity vs modest gains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Reframe: multiple access = an interference-management philosophy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Power-domain NOMA and SIC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60 / 86</a:t>
            </a:r>
          </a:p>
        </p:txBody>
      </p:sp>
      <p:pic>
        <p:nvPicPr>
          <p:cNvPr id="6" name="Picture 5" descr="eq_no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34440"/>
            <a:ext cx="10058400" cy="92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412032"/>
            <a:ext cx="10545775" cy="4034487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Superpose users in power; near user decodes far user's signal, cancels, then decodes its own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Gains hinge on channel disparity (|h_n| ≫ |h_f|)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Taxes: SIC error propagation, CSI sensitivity — degrades with mobility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Rate-splitting multiple access (RSMA)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61 / 86</a:t>
            </a:r>
          </a:p>
        </p:txBody>
      </p:sp>
      <p:pic>
        <p:nvPicPr>
          <p:cNvPr id="6" name="Picture 5" descr="eq_rs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34440"/>
            <a:ext cx="10058400" cy="9201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410612"/>
            <a:ext cx="10545775" cy="4035907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Split each message: common part (decoded by all) + private part (own)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One SIC step: decode common, subtract, decode private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Spans SDMA ↔ NOMA ↔ multicast as special cases of one framework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Grant-free and unsourced random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62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mMTC: short packets, sporadic activity, handshakes cost more than the payload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Activity detection = compressed sensing again: sparse recovery / covariance methods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Unsourced RA: all users share one codebook; decoder returns an unordered message list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Same sparsity toolbox as Section 4 — third billing for the same math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Why RSMA keeps gaining traction for 6G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63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7173"/>
                </a:solidFill>
                <a:latin typeface="Arial"/>
              </a:rPr>
              <a:t>▸  </a:t>
            </a:r>
            <a:r>
              <a:rPr sz="1600">
                <a:solidFill>
                  <a:srgbClr val="0B0B0B"/>
                </a:solidFill>
                <a:latin typeface="Arial"/>
              </a:rPr>
              <a:t>One framework unifying the access zoo — fewer special cases to standardize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7173"/>
                </a:solidFill>
                <a:latin typeface="Arial"/>
              </a:rPr>
              <a:t>▸  </a:t>
            </a:r>
            <a:r>
              <a:rPr sz="1600">
                <a:solidFill>
                  <a:srgbClr val="0B0B0B"/>
                </a:solidFill>
                <a:latin typeface="Arial"/>
              </a:rPr>
              <a:t>Graceful degradation under imperfect CSIT (the regime real networks live in)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7173"/>
                </a:solidFill>
                <a:latin typeface="Arial"/>
              </a:rPr>
              <a:t>▸  </a:t>
            </a:r>
            <a:r>
              <a:rPr sz="1600">
                <a:solidFill>
                  <a:srgbClr val="0B0B0B"/>
                </a:solidFill>
                <a:latin typeface="Arial"/>
              </a:rPr>
              <a:t>Documented synergies with multi-antenna ISAC and RIS beamforming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7173"/>
                </a:solidFill>
                <a:latin typeface="Arial"/>
              </a:rPr>
              <a:t>▸  </a:t>
            </a:r>
            <a:r>
              <a:rPr sz="1600">
                <a:solidFill>
                  <a:srgbClr val="0B0B0B"/>
                </a:solidFill>
                <a:latin typeface="Arial"/>
              </a:rPr>
              <a:t>Entry fee: encoder/scheduler complexity, common-rate control signaling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7173"/>
                </a:solidFill>
                <a:latin typeface="Arial"/>
              </a:rPr>
              <a:t>▸  </a:t>
            </a:r>
            <a:r>
              <a:rPr sz="1600">
                <a:solidFill>
                  <a:srgbClr val="0B0B0B"/>
                </a:solidFill>
                <a:latin typeface="Arial"/>
              </a:rPr>
              <a:t>“Split, superpose — and let SIC do bounded work.”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64592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6600" b="1" i="0">
                <a:solidFill>
                  <a:srgbClr val="6FB0B1"/>
                </a:solidFill>
                <a:latin typeface="Arial"/>
              </a:rPr>
              <a:t>9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4600" y="2468880"/>
            <a:ext cx="41148" cy="1463040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88920" y="2286000"/>
            <a:ext cx="841248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Coverage from the Sky &amp; New Media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Non-terrestrial networks: the 3D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65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Layers: LEO mega-constellations (300–1200 km), HAPS (~20 km), UAV relays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6G goal: one 3GPP-native fabric — common waveform family, seamless sky↔ground mobility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Direct-to-device NTN is already commercially real; scaling it is the 6G task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The LEO signal processing problem: Doppler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66 / 86</a:t>
            </a:r>
          </a:p>
        </p:txBody>
      </p:sp>
      <p:pic>
        <p:nvPicPr>
          <p:cNvPr id="6" name="Picture 5" descr="eq_l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07008"/>
            <a:ext cx="10058400" cy="6924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01236"/>
            <a:ext cx="5943600" cy="4245283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Doppler rate up to ~kHz/s near zenith; RTT 2–25 ms breaks HARQ timing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The gift: ephemeris is known → pre-compensate, track only the residual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DD-domain waveforms (Section 3) are natural fits here</a:t>
            </a:r>
          </a:p>
        </p:txBody>
      </p:sp>
      <p:pic>
        <p:nvPicPr>
          <p:cNvPr id="8" name="Picture 7" descr="fig_leo_dopp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574556"/>
            <a:ext cx="4937760" cy="3452924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NTN in 3GPP: status in one minute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67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Rel-17: NR-NTN baseline (transparent payloads, timing/Doppler handling)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Rel-18/19: coverage &amp; mobility enhancements, IoT-NTN, regenerative payloads on the way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6G: NTN native from the start — inter-satellite routing, store-and-forward IoT, unified mobility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Optical wireless and VLC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68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IM/DD constraint: real, non-negative signals → DCO-/ACO-OFDM adaptations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LiFi: dense indoor capacity, security by physics; FSO: fiber-class backhaul incl. ground–satellite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Challenges: alignment, ambient light, uplink asymmetry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Honest niche: industrial floors, cabins, RF-denied environments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Quantum-secured links (brief)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69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QKD: key distribution whose security rests on physics; fiber and satellite demos exist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Realism: point-to-point, modest key rates → practical path is hybrid QKD + post-quantum crypto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For 6G: primarily a security-architecture topic, not a PHY-DSP one — one slide on purpose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64592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6600" b="1" i="0">
                <a:solidFill>
                  <a:srgbClr val="6FB0B1"/>
                </a:solidFill>
                <a:latin typeface="Arial"/>
              </a:rP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4600" y="2468880"/>
            <a:ext cx="41148" cy="1463040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88920" y="2286000"/>
            <a:ext cx="841248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Energy, Standardization &amp; Roadmap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Energy-efficient PHY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71 / 86</a:t>
            </a:r>
          </a:p>
        </p:txBody>
      </p:sp>
      <p:pic>
        <p:nvPicPr>
          <p:cNvPr id="6" name="Picture 5" descr="eq_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89" y="1207008"/>
            <a:ext cx="9064316" cy="123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743200"/>
            <a:ext cx="5943600" cy="370331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Network energy: OPEX + sustainability KPI (an IMT-2030 design value)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Levers: PA operating point (waveform!), low-resolution ADCs, sleep-aware design, lean always-on signals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Design shift: bit/J next to bit/s/Hz</a:t>
            </a:r>
          </a:p>
        </p:txBody>
      </p:sp>
      <p:pic>
        <p:nvPicPr>
          <p:cNvPr id="8" name="Picture 7" descr="fig_energy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917860"/>
            <a:ext cx="4937760" cy="3308279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The 3GPP road to 6G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72 / 86</a:t>
            </a:r>
          </a:p>
        </p:txBody>
      </p:sp>
      <p:pic>
        <p:nvPicPr>
          <p:cNvPr id="6" name="Picture 5" descr="fig_release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672" y="1234440"/>
            <a:ext cx="8884350" cy="43891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69279"/>
            <a:ext cx="10545775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Rel-19 carries the studies that matter (ISAC model, AI/ML); Rel-20 opens the 6G study; Rel-21 goes normative → first spec ≈ 2028–29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The ITU IMT-2030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73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M.2160 framework (2023) → requirements &amp; evaluation (2024–26) → submissions → IMT-2030 specs ≈ 2029–30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Same machinery that turned IMT-2020 into '5G' — history rhymes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Feeding programs: Hexa-X-II (EU), Next G Alliance (US), IMT-2030 Promotion Group (CN), Bharat 6G (IN)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A research roadmap for this room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74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Start now (paper-sized): DD-domain receivers &amp; AFDM; near-field CSI &amp; codebooks; ISAC CRB–rate trade-offs; deep-unfolded PHY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Build toward (project-sized): cell-free + RIS testbeds; AI life-cycle management; sub-THz prototyping; public channel datasets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Choose problems where DSP insight beats brute force — our comparative advantage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The 6G signal-processing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75 / 86</a:t>
            </a:r>
          </a:p>
        </p:txBody>
      </p:sp>
      <p:pic>
        <p:nvPicPr>
          <p:cNvPr id="6" name="Picture 5" descr="fig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83295"/>
            <a:ext cx="10180015" cy="22914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69279"/>
            <a:ext cx="10545775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7173"/>
                </a:solidFill>
                <a:latin typeface="Arial"/>
              </a:rPr>
              <a:t>▸  </a:t>
            </a:r>
            <a:r>
              <a:rPr sz="2000">
                <a:solidFill>
                  <a:srgbClr val="0B0B0B"/>
                </a:solidFill>
                <a:latin typeface="Arial"/>
              </a:rPr>
              <a:t>Recurring themes: sparsity • domain transforms • hardware-aware design • model + data hybrids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64592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6600" b="1" i="0">
                <a:solidFill>
                  <a:srgbClr val="6FB0B1"/>
                </a:solidFill>
                <a:latin typeface="Arial"/>
              </a:rP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4600" y="2468880"/>
            <a:ext cx="41148" cy="1463040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88920" y="2286000"/>
            <a:ext cx="8412480" cy="1463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Takeaways &amp; Q&amp;A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Five demos, five lessons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77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7173"/>
                </a:solidFill>
                <a:latin typeface="Arial"/>
              </a:rPr>
              <a:t>▸  </a:t>
            </a:r>
            <a:r>
              <a:rPr sz="1600">
                <a:solidFill>
                  <a:srgbClr val="0B0B0B"/>
                </a:solidFill>
                <a:latin typeface="Arial"/>
              </a:rPr>
              <a:t>D1 OFDM vs OTFS: at high Doppler, change the domain, not the SNR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7173"/>
                </a:solidFill>
                <a:latin typeface="Arial"/>
              </a:rPr>
              <a:t>▸  </a:t>
            </a:r>
            <a:r>
              <a:rPr sz="1600">
                <a:solidFill>
                  <a:srgbClr val="0B0B0B"/>
                </a:solidFill>
                <a:latin typeface="Arial"/>
              </a:rPr>
              <a:t>D2 Hybrid beamforming: in sparse channels, 4 RF chains ≈ 64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7173"/>
                </a:solidFill>
                <a:latin typeface="Arial"/>
              </a:rPr>
              <a:t>▸  </a:t>
            </a:r>
            <a:r>
              <a:rPr sz="1600">
                <a:solidFill>
                  <a:srgbClr val="0B0B0B"/>
                </a:solidFill>
                <a:latin typeface="Arial"/>
              </a:rPr>
              <a:t>D3 RIS: co-phasing turns a random walk into N² combining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7173"/>
                </a:solidFill>
                <a:latin typeface="Arial"/>
              </a:rPr>
              <a:t>▸  </a:t>
            </a:r>
            <a:r>
              <a:rPr sz="1600">
                <a:solidFill>
                  <a:srgbClr val="0B0B0B"/>
                </a:solidFill>
                <a:latin typeface="Arial"/>
              </a:rPr>
              <a:t>D4 ISAC: a data-carrying frame can image two moving targets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7173"/>
                </a:solidFill>
                <a:latin typeface="Arial"/>
              </a:rPr>
              <a:t>▸  </a:t>
            </a:r>
            <a:r>
              <a:rPr sz="1600">
                <a:solidFill>
                  <a:srgbClr val="0B0B0B"/>
                </a:solidFill>
                <a:latin typeface="Arial"/>
              </a:rPr>
              <a:t>D5 Learned estimation: ≈ MMSE without knowing the statistics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78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6G = new spectrum + new geometry (near-field) + new functions (sensing) + new tools (learning)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OFDM is not dead — it has new roommates; expect scenario-adaptive PHY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Three formulas organize half the field: P ∝ N²  •  d_R = 2D²/λ  •  var(τ̂) ≥ 1/(8π²β²·SNR)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7173"/>
                </a:solidFill>
                <a:latin typeface="Arial"/>
              </a:rPr>
              <a:t>▸  </a:t>
            </a:r>
            <a:r>
              <a:rPr sz="1800">
                <a:solidFill>
                  <a:srgbClr val="0B0B0B"/>
                </a:solidFill>
                <a:latin typeface="Arial"/>
              </a:rPr>
              <a:t>Signal processing turns physics into throughput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Open problems worth a PhD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79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5074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F7173"/>
                </a:solidFill>
                <a:latin typeface="Arial"/>
              </a:rPr>
              <a:t>▸  </a:t>
            </a:r>
            <a:r>
              <a:rPr sz="1500">
                <a:solidFill>
                  <a:srgbClr val="0B0B0B"/>
                </a:solidFill>
                <a:latin typeface="Arial"/>
              </a:rPr>
              <a:t>Unified DD-domain ISAC: one waveform, provably optimal for both jobs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F7173"/>
                </a:solidFill>
                <a:latin typeface="Arial"/>
              </a:rPr>
              <a:t>▸  </a:t>
            </a:r>
            <a:r>
              <a:rPr sz="1500">
                <a:solidFill>
                  <a:srgbClr val="0B0B0B"/>
                </a:solidFill>
                <a:latin typeface="Arial"/>
              </a:rPr>
              <a:t>Near-field channel estimation &amp; codebooks at N &gt; 10³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F7173"/>
                </a:solidFill>
                <a:latin typeface="Arial"/>
              </a:rPr>
              <a:t>▸  </a:t>
            </a:r>
            <a:r>
              <a:rPr sz="1500">
                <a:solidFill>
                  <a:srgbClr val="0B0B0B"/>
                </a:solidFill>
                <a:latin typeface="Arial"/>
              </a:rPr>
              <a:t>EM-consistent RIS models (coupling, wideband) that stay tractable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F7173"/>
                </a:solidFill>
                <a:latin typeface="Arial"/>
              </a:rPr>
              <a:t>▸  </a:t>
            </a:r>
            <a:r>
              <a:rPr sz="1500">
                <a:solidFill>
                  <a:srgbClr val="0B0B0B"/>
                </a:solidFill>
                <a:latin typeface="Arial"/>
              </a:rPr>
              <a:t>Trustworthy neural PHY: certification, monitoring, graceful fallback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F7173"/>
                </a:solidFill>
                <a:latin typeface="Arial"/>
              </a:rPr>
              <a:t>▸  </a:t>
            </a:r>
            <a:r>
              <a:rPr sz="1500">
                <a:solidFill>
                  <a:srgbClr val="0B0B0B"/>
                </a:solidFill>
                <a:latin typeface="Arial"/>
              </a:rPr>
              <a:t>Energy-optimal waveform + PA co-design for sub-THz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F7173"/>
                </a:solidFill>
                <a:latin typeface="Arial"/>
              </a:rPr>
              <a:t>▸  </a:t>
            </a:r>
            <a:r>
              <a:rPr sz="1500">
                <a:solidFill>
                  <a:srgbClr val="0B0B0B"/>
                </a:solidFill>
                <a:latin typeface="Arial"/>
              </a:rPr>
              <a:t>Grant-free access at 10⁸ devices/km²: CS at societal scale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References &amp;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80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44068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F7173"/>
                </a:solidFill>
                <a:latin typeface="Arial"/>
              </a:rPr>
              <a:t>[1] </a:t>
            </a:r>
            <a:r>
              <a:rPr sz="1050">
                <a:solidFill>
                  <a:srgbClr val="0B0B0B"/>
                </a:solidFill>
                <a:latin typeface="Arial"/>
              </a:rPr>
              <a:t>ITU-R Rec. M.2160-0, “Framework and overall objectives of the future development of IMT for 2030 and beyond,” Nov. 2023.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F7173"/>
                </a:solidFill>
                <a:latin typeface="Arial"/>
              </a:rPr>
              <a:t>[2] </a:t>
            </a:r>
            <a:r>
              <a:rPr sz="1050">
                <a:solidFill>
                  <a:srgbClr val="0B0B0B"/>
                </a:solidFill>
                <a:latin typeface="Arial"/>
              </a:rPr>
              <a:t>W. Saad, M. Bennis, M. Chen, “A vision of 6G wireless systems,” IEEE Network, vol. 34, no. 3, 2020.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F7173"/>
                </a:solidFill>
                <a:latin typeface="Arial"/>
              </a:rPr>
              <a:t>[3] </a:t>
            </a:r>
            <a:r>
              <a:rPr sz="1050">
                <a:solidFill>
                  <a:srgbClr val="0B0B0B"/>
                </a:solidFill>
                <a:latin typeface="Arial"/>
              </a:rPr>
              <a:t>H. Tataria et al., “6G wireless systems: Vision, requirements, challenges, insights, and opportunities,” Proc. IEEE, vol. 109, no. 7, 2021.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F7173"/>
                </a:solidFill>
                <a:latin typeface="Arial"/>
              </a:rPr>
              <a:t>[4] </a:t>
            </a:r>
            <a:r>
              <a:rPr sz="1050">
                <a:solidFill>
                  <a:srgbClr val="0B0B0B"/>
                </a:solidFill>
                <a:latin typeface="Arial"/>
              </a:rPr>
              <a:t>R. Hadani et al., “Orthogonal time frequency space modulation,” Proc. IEEE WCNC, 2017.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F7173"/>
                </a:solidFill>
                <a:latin typeface="Arial"/>
              </a:rPr>
              <a:t>[5] </a:t>
            </a:r>
            <a:r>
              <a:rPr sz="1050">
                <a:solidFill>
                  <a:srgbClr val="0B0B0B"/>
                </a:solidFill>
                <a:latin typeface="Arial"/>
              </a:rPr>
              <a:t>Z. Wei et al., “Orthogonal time-frequency space modulation: A promising next-generation waveform,” IEEE Wireless Commun., vol. 28, no. 4, 2021.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F7173"/>
                </a:solidFill>
                <a:latin typeface="Arial"/>
              </a:rPr>
              <a:t>[6] </a:t>
            </a:r>
            <a:r>
              <a:rPr sz="1050">
                <a:solidFill>
                  <a:srgbClr val="0B0B0B"/>
                </a:solidFill>
                <a:latin typeface="Arial"/>
              </a:rPr>
              <a:t>A. Bemani, N. Ksairi, M. Kountouris, “AFDM: Affine frequency division multiplexing for next generation wireless,” IEEE Trans. Wireless Commun., 2023.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F7173"/>
                </a:solidFill>
                <a:latin typeface="Arial"/>
              </a:rPr>
              <a:t>[7] </a:t>
            </a:r>
            <a:r>
              <a:rPr sz="1050">
                <a:solidFill>
                  <a:srgbClr val="0B0B0B"/>
                </a:solidFill>
                <a:latin typeface="Arial"/>
              </a:rPr>
              <a:t>O. El Ayach et al., “Spatially sparse precoding in millimeter wave MIMO systems,” IEEE Trans. Wireless Commun., vol. 13, no. 3, 2014.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F7173"/>
                </a:solidFill>
                <a:latin typeface="Arial"/>
              </a:rPr>
              <a:t>[8] </a:t>
            </a:r>
            <a:r>
              <a:rPr sz="1050">
                <a:solidFill>
                  <a:srgbClr val="0B0B0B"/>
                </a:solidFill>
                <a:latin typeface="Arial"/>
              </a:rPr>
              <a:t>E. Björnson, J. Hoydis, L. Sanguinetti, “Massive MIMO has unlimited capacity,” IEEE Trans. Wireless Commun., vol. 17, no. 1, 2018.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234440"/>
            <a:ext cx="544068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F7173"/>
                </a:solidFill>
                <a:latin typeface="Arial"/>
              </a:rPr>
              <a:t>[9] </a:t>
            </a:r>
            <a:r>
              <a:rPr sz="1050">
                <a:solidFill>
                  <a:srgbClr val="0B0B0B"/>
                </a:solidFill>
                <a:latin typeface="Arial"/>
              </a:rPr>
              <a:t>Q. Wu, R. Zhang, “Intelligent reflecting surface enhanced wireless network via joint active and passive beamforming,” IEEE Trans. Wireless Commun., vol. 18, no. 11, 2019.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F7173"/>
                </a:solidFill>
                <a:latin typeface="Arial"/>
              </a:rPr>
              <a:t>[10] </a:t>
            </a:r>
            <a:r>
              <a:rPr sz="1050">
                <a:solidFill>
                  <a:srgbClr val="0B0B0B"/>
                </a:solidFill>
                <a:latin typeface="Arial"/>
              </a:rPr>
              <a:t>M. Di Renzo et al., “Smart radio environments empowered by reconfigurable intelligent surfaces,” IEEE JSAC, vol. 38, no. 11, 2020.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F7173"/>
                </a:solidFill>
                <a:latin typeface="Arial"/>
              </a:rPr>
              <a:t>[11] </a:t>
            </a:r>
            <a:r>
              <a:rPr sz="1050">
                <a:solidFill>
                  <a:srgbClr val="0B0B0B"/>
                </a:solidFill>
                <a:latin typeface="Arial"/>
              </a:rPr>
              <a:t>F. Liu et al., “Integrated sensing and communications: Toward dual-functional wireless networks for 6G and beyond,” IEEE JSAC, vol. 40, no. 6, 2022.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F7173"/>
                </a:solidFill>
                <a:latin typeface="Arial"/>
              </a:rPr>
              <a:t>[12] </a:t>
            </a:r>
            <a:r>
              <a:rPr sz="1050">
                <a:solidFill>
                  <a:srgbClr val="0B0B0B"/>
                </a:solidFill>
                <a:latin typeface="Arial"/>
              </a:rPr>
              <a:t>C. Sturm, W. Wiesbeck, “Waveform design and signal processing aspects for fusion of wireless communications and radar sensing,” Proc. IEEE, vol. 99, no. 7, 2011.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F7173"/>
                </a:solidFill>
                <a:latin typeface="Arial"/>
              </a:rPr>
              <a:t>[13] </a:t>
            </a:r>
            <a:r>
              <a:rPr sz="1050">
                <a:solidFill>
                  <a:srgbClr val="0B0B0B"/>
                </a:solidFill>
                <a:latin typeface="Arial"/>
              </a:rPr>
              <a:t>T. O'Shea, J. Hoydis, “An introduction to deep learning for the physical layer,” IEEE Trans. Cogn. Commun. Netw., vol. 3, no. 4, 2017.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F7173"/>
                </a:solidFill>
                <a:latin typeface="Arial"/>
              </a:rPr>
              <a:t>[14] </a:t>
            </a:r>
            <a:r>
              <a:rPr sz="1050">
                <a:solidFill>
                  <a:srgbClr val="0B0B0B"/>
                </a:solidFill>
                <a:latin typeface="Arial"/>
              </a:rPr>
              <a:t>N. Shlezinger, J. Whang, Y. C. Eldar, A. J. Goldsmith, “Model-based deep learning,” Proc. IEEE, vol. 111, no. 5, 2023.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F7173"/>
                </a:solidFill>
                <a:latin typeface="Arial"/>
              </a:rPr>
              <a:t>[15] </a:t>
            </a:r>
            <a:r>
              <a:rPr sz="1050">
                <a:solidFill>
                  <a:srgbClr val="0B0B0B"/>
                </a:solidFill>
                <a:latin typeface="Arial"/>
              </a:rPr>
              <a:t>Y. Mao, O. Dizdar, B. Clerckx, R. Schober, P. Popovski, H. V. Poor, “Rate-splitting multiple access: Fundamentals, survey, and future research trends,” IEEE Commun. Surveys Tuts., vol. 24, no. 4, 2022.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0" i="1">
                <a:solidFill>
                  <a:srgbClr val="52514E"/>
                </a:solidFill>
                <a:latin typeface="Arial"/>
              </a:rPr>
              <a:t>Tools: MATLAB (SPT / CommT / DLT)  •  NVIDIA Sionna  •  this talk's code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1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137160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65760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Arial"/>
              </a:rPr>
              <a:t>Dr. Markkandan S  ·  Associate Professor, SENSE, VIT Chennai</a:t>
            </a:r>
          </a:p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markkandan.s@vit.ac.in</a:t>
            </a:r>
          </a:p>
          <a:p>
            <a:pPr algn="ctr"/>
            <a:r>
              <a:rPr sz="1700" b="0" i="1">
                <a:solidFill>
                  <a:srgbClr val="FFFFFF"/>
                </a:solidFill>
                <a:latin typeface="Arial"/>
              </a:rPr>
              <a:t>Slides, MATLAB demos &amp; Python verification code ship together.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Backup A1: pre-computed result — Demo 1 (OFDM vs OTFS)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82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300" b="1" i="1">
                <a:solidFill>
                  <a:srgbClr val="0F7173"/>
                </a:solidFill>
                <a:latin typeface="Arial"/>
              </a:rPr>
              <a:t>Backup: pre-computed result</a:t>
            </a:r>
          </a:p>
        </p:txBody>
      </p:sp>
      <p:pic>
        <p:nvPicPr>
          <p:cNvPr id="7" name="Picture 6" descr="backup_dem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24553"/>
            <a:ext cx="9997135" cy="4614733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Backup A2: pre-computed result — Demo 2 (hybrid beamforming)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83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300" b="1" i="1">
                <a:solidFill>
                  <a:srgbClr val="0F7173"/>
                </a:solidFill>
                <a:latin typeface="Arial"/>
              </a:rPr>
              <a:t>Backup: pre-computed result</a:t>
            </a:r>
          </a:p>
        </p:txBody>
      </p:sp>
      <p:pic>
        <p:nvPicPr>
          <p:cNvPr id="7" name="Picture 6" descr="backup_dem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1871"/>
            <a:ext cx="9997135" cy="4580096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Backup A3: pre-computed result — Demo 3 (RIS N² law)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84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300" b="1" i="1">
                <a:solidFill>
                  <a:srgbClr val="0F7173"/>
                </a:solidFill>
                <a:latin typeface="Arial"/>
              </a:rPr>
              <a:t>Backup: pre-computed result</a:t>
            </a:r>
          </a:p>
        </p:txBody>
      </p:sp>
      <p:pic>
        <p:nvPicPr>
          <p:cNvPr id="7" name="Picture 6" descr="fig_demo3_ris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067" y="1554480"/>
            <a:ext cx="648955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Backup A4: pre-computed result — Demo 4 (ISAC range–Doppler)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85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300" b="1" i="1">
                <a:solidFill>
                  <a:srgbClr val="0F7173"/>
                </a:solidFill>
                <a:latin typeface="Arial"/>
              </a:rPr>
              <a:t>Backup: pre-computed result</a:t>
            </a:r>
          </a:p>
        </p:txBody>
      </p:sp>
      <p:pic>
        <p:nvPicPr>
          <p:cNvPr id="7" name="Picture 6" descr="backup_dem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232" y="1554480"/>
            <a:ext cx="687722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Arial"/>
              </a:rPr>
              <a:t>Backup A5: pre-computed result — Demo 5 (learned estimation)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0704"/>
            <a:ext cx="2834640" cy="3200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Arial"/>
              </a:rPr>
              <a:t>86 / 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300" b="1" i="1">
                <a:solidFill>
                  <a:srgbClr val="0F7173"/>
                </a:solidFill>
                <a:latin typeface="Arial"/>
              </a:rPr>
              <a:t>Backup: pre-computed result</a:t>
            </a:r>
          </a:p>
        </p:txBody>
      </p:sp>
      <p:pic>
        <p:nvPicPr>
          <p:cNvPr id="7" name="Picture 6" descr="backup_demo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078" y="1554480"/>
            <a:ext cx="6627539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